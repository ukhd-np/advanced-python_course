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A50048-1538-7555-1B24-B2BBA987F2B0}" v="57" dt="2025-11-08T15:16:55.498"/>
    <p1510:client id="{F5E4FF70-7CA7-30C0-A89C-CF71D59238E6}" v="55" dt="2025-11-08T15:22:17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25" autoAdjust="0"/>
    <p:restoredTop sz="94660"/>
  </p:normalViewPr>
  <p:slideViewPr>
    <p:cSldViewPr snapToGrid="0">
      <p:cViewPr>
        <p:scale>
          <a:sx n="84" d="100"/>
          <a:sy n="84" d="100"/>
        </p:scale>
        <p:origin x="568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udau, Isabell" userId="S::gh018@uni-heidelberg.de::7886601c-7413-4c43-800c-1c3860962d2f" providerId="AD" clId="Web-{CBA50048-1538-7555-1B24-B2BBA987F2B0}"/>
    <pc:docChg chg="modSld addMainMaster delMainMaster">
      <pc:chgData name="Bludau, Isabell" userId="S::gh018@uni-heidelberg.de::7886601c-7413-4c43-800c-1c3860962d2f" providerId="AD" clId="Web-{CBA50048-1538-7555-1B24-B2BBA987F2B0}" dt="2025-11-08T15:16:55.498" v="58" actId="14100"/>
      <pc:docMkLst>
        <pc:docMk/>
      </pc:docMkLst>
      <pc:sldChg chg="addSp delSp modSp mod setBg modClrScheme chgLayout">
        <pc:chgData name="Bludau, Isabell" userId="S::gh018@uni-heidelberg.de::7886601c-7413-4c43-800c-1c3860962d2f" providerId="AD" clId="Web-{CBA50048-1538-7555-1B24-B2BBA987F2B0}" dt="2025-11-08T15:16:55.498" v="58" actId="14100"/>
        <pc:sldMkLst>
          <pc:docMk/>
          <pc:sldMk cId="1577499883" sldId="256"/>
        </pc:sldMkLst>
        <pc:spChg chg="mod">
          <ac:chgData name="Bludau, Isabell" userId="S::gh018@uni-heidelberg.de::7886601c-7413-4c43-800c-1c3860962d2f" providerId="AD" clId="Web-{CBA50048-1538-7555-1B24-B2BBA987F2B0}" dt="2025-11-08T15:16:37.546" v="57"/>
          <ac:spMkLst>
            <pc:docMk/>
            <pc:sldMk cId="1577499883" sldId="256"/>
            <ac:spMk id="2" creationId="{00000000-0000-0000-0000-000000000000}"/>
          </ac:spMkLst>
        </pc:spChg>
        <pc:spChg chg="mod">
          <ac:chgData name="Bludau, Isabell" userId="S::gh018@uni-heidelberg.de::7886601c-7413-4c43-800c-1c3860962d2f" providerId="AD" clId="Web-{CBA50048-1538-7555-1B24-B2BBA987F2B0}" dt="2025-11-08T15:16:37.546" v="57"/>
          <ac:spMkLst>
            <pc:docMk/>
            <pc:sldMk cId="1577499883" sldId="256"/>
            <ac:spMk id="3" creationId="{00000000-0000-0000-0000-000000000000}"/>
          </ac:spMkLst>
        </pc:spChg>
        <pc:spChg chg="add del">
          <ac:chgData name="Bludau, Isabell" userId="S::gh018@uni-heidelberg.de::7886601c-7413-4c43-800c-1c3860962d2f" providerId="AD" clId="Web-{CBA50048-1538-7555-1B24-B2BBA987F2B0}" dt="2025-11-08T15:16:37.498" v="56"/>
          <ac:spMkLst>
            <pc:docMk/>
            <pc:sldMk cId="1577499883" sldId="256"/>
            <ac:spMk id="9" creationId="{8555C5B3-193A-4749-9AFD-682E53CDDE8F}"/>
          </ac:spMkLst>
        </pc:spChg>
        <pc:spChg chg="add del">
          <ac:chgData name="Bludau, Isabell" userId="S::gh018@uni-heidelberg.de::7886601c-7413-4c43-800c-1c3860962d2f" providerId="AD" clId="Web-{CBA50048-1538-7555-1B24-B2BBA987F2B0}" dt="2025-11-08T15:16:37.498" v="56"/>
          <ac:spMkLst>
            <pc:docMk/>
            <pc:sldMk cId="1577499883" sldId="256"/>
            <ac:spMk id="11" creationId="{2EAE06A6-F76A-41C9-827A-C561B004485C}"/>
          </ac:spMkLst>
        </pc:spChg>
        <pc:spChg chg="add del">
          <ac:chgData name="Bludau, Isabell" userId="S::gh018@uni-heidelberg.de::7886601c-7413-4c43-800c-1c3860962d2f" providerId="AD" clId="Web-{CBA50048-1538-7555-1B24-B2BBA987F2B0}" dt="2025-11-08T15:16:37.498" v="56"/>
          <ac:spMkLst>
            <pc:docMk/>
            <pc:sldMk cId="1577499883" sldId="256"/>
            <ac:spMk id="13" creationId="{89F9D4E8-0639-444B-949B-9518585061AF}"/>
          </ac:spMkLst>
        </pc:spChg>
        <pc:spChg chg="add del">
          <ac:chgData name="Bludau, Isabell" userId="S::gh018@uni-heidelberg.de::7886601c-7413-4c43-800c-1c3860962d2f" providerId="AD" clId="Web-{CBA50048-1538-7555-1B24-B2BBA987F2B0}" dt="2025-11-08T15:16:37.498" v="56"/>
          <ac:spMkLst>
            <pc:docMk/>
            <pc:sldMk cId="1577499883" sldId="256"/>
            <ac:spMk id="15" creationId="{7E3DA7A2-ED70-4BBA-AB72-00AD461FA405}"/>
          </ac:spMkLst>
        </pc:spChg>
        <pc:spChg chg="add del">
          <ac:chgData name="Bludau, Isabell" userId="S::gh018@uni-heidelberg.de::7886601c-7413-4c43-800c-1c3860962d2f" providerId="AD" clId="Web-{CBA50048-1538-7555-1B24-B2BBA987F2B0}" dt="2025-11-08T15:16:37.498" v="56"/>
          <ac:spMkLst>
            <pc:docMk/>
            <pc:sldMk cId="1577499883" sldId="256"/>
            <ac:spMk id="17" creationId="{FC485432-3647-4218-B5D3-15D3FA222B13}"/>
          </ac:spMkLst>
        </pc:spChg>
        <pc:spChg chg="add del">
          <ac:chgData name="Bludau, Isabell" userId="S::gh018@uni-heidelberg.de::7886601c-7413-4c43-800c-1c3860962d2f" providerId="AD" clId="Web-{CBA50048-1538-7555-1B24-B2BBA987F2B0}" dt="2025-11-08T15:16:37.498" v="56"/>
          <ac:spMkLst>
            <pc:docMk/>
            <pc:sldMk cId="1577499883" sldId="256"/>
            <ac:spMk id="19" creationId="{F4AFDDCA-6ABA-4D23-8A5C-1BF0F4308148}"/>
          </ac:spMkLst>
        </pc:spChg>
        <pc:spChg chg="add">
          <ac:chgData name="Bludau, Isabell" userId="S::gh018@uni-heidelberg.de::7886601c-7413-4c43-800c-1c3860962d2f" providerId="AD" clId="Web-{CBA50048-1538-7555-1B24-B2BBA987F2B0}" dt="2025-11-08T15:16:37.546" v="57"/>
          <ac:spMkLst>
            <pc:docMk/>
            <pc:sldMk cId="1577499883" sldId="256"/>
            <ac:spMk id="21" creationId="{845648E2-B946-43A1-80DE-C50CBBDF92FA}"/>
          </ac:spMkLst>
        </pc:spChg>
        <pc:spChg chg="add">
          <ac:chgData name="Bludau, Isabell" userId="S::gh018@uni-heidelberg.de::7886601c-7413-4c43-800c-1c3860962d2f" providerId="AD" clId="Web-{CBA50048-1538-7555-1B24-B2BBA987F2B0}" dt="2025-11-08T15:16:37.546" v="57"/>
          <ac:spMkLst>
            <pc:docMk/>
            <pc:sldMk cId="1577499883" sldId="256"/>
            <ac:spMk id="22" creationId="{EA06546B-3E90-4E24-BD32-C6BFD1CD8D20}"/>
          </ac:spMkLst>
        </pc:spChg>
        <pc:spChg chg="add">
          <ac:chgData name="Bludau, Isabell" userId="S::gh018@uni-heidelberg.de::7886601c-7413-4c43-800c-1c3860962d2f" providerId="AD" clId="Web-{CBA50048-1538-7555-1B24-B2BBA987F2B0}" dt="2025-11-08T15:16:37.546" v="57"/>
          <ac:spMkLst>
            <pc:docMk/>
            <pc:sldMk cId="1577499883" sldId="256"/>
            <ac:spMk id="23" creationId="{3FA95682-BEE6-4B33-BA34-7E7BE49782DA}"/>
          </ac:spMkLst>
        </pc:spChg>
        <pc:picChg chg="add mod">
          <ac:chgData name="Bludau, Isabell" userId="S::gh018@uni-heidelberg.de::7886601c-7413-4c43-800c-1c3860962d2f" providerId="AD" clId="Web-{CBA50048-1538-7555-1B24-B2BBA987F2B0}" dt="2025-11-08T15:16:55.498" v="58" actId="14100"/>
          <ac:picMkLst>
            <pc:docMk/>
            <pc:sldMk cId="1577499883" sldId="256"/>
            <ac:picMk id="4" creationId="{AB0A8BC3-E5AD-B210-4674-E7161E712C4A}"/>
          </ac:picMkLst>
        </pc:picChg>
      </pc:sldChg>
      <pc:sldMasterChg chg="del delSldLayout">
        <pc:chgData name="Bludau, Isabell" userId="S::gh018@uni-heidelberg.de::7886601c-7413-4c43-800c-1c3860962d2f" providerId="AD" clId="Web-{CBA50048-1538-7555-1B24-B2BBA987F2B0}" dt="2025-11-08T15:16:37.546" v="57"/>
        <pc:sldMasterMkLst>
          <pc:docMk/>
          <pc:sldMasterMk cId="594725491" sldId="2147483648"/>
        </pc:sldMasterMkLst>
        <pc:sldLayoutChg chg="del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594725491" sldId="2147483648"/>
            <pc:sldLayoutMk cId="4043166929" sldId="2147483649"/>
          </pc:sldLayoutMkLst>
        </pc:sldLayoutChg>
        <pc:sldLayoutChg chg="del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594725491" sldId="2147483648"/>
            <pc:sldLayoutMk cId="3433200589" sldId="2147483650"/>
          </pc:sldLayoutMkLst>
        </pc:sldLayoutChg>
        <pc:sldLayoutChg chg="del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594725491" sldId="2147483648"/>
            <pc:sldLayoutMk cId="2835585648" sldId="2147483651"/>
          </pc:sldLayoutMkLst>
        </pc:sldLayoutChg>
        <pc:sldLayoutChg chg="del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594725491" sldId="2147483648"/>
            <pc:sldLayoutMk cId="742901757" sldId="2147483652"/>
          </pc:sldLayoutMkLst>
        </pc:sldLayoutChg>
        <pc:sldLayoutChg chg="del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594725491" sldId="2147483648"/>
            <pc:sldLayoutMk cId="2024084034" sldId="2147483653"/>
          </pc:sldLayoutMkLst>
        </pc:sldLayoutChg>
        <pc:sldLayoutChg chg="del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594725491" sldId="2147483648"/>
            <pc:sldLayoutMk cId="2440206447" sldId="2147483654"/>
          </pc:sldLayoutMkLst>
        </pc:sldLayoutChg>
        <pc:sldLayoutChg chg="del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594725491" sldId="2147483648"/>
            <pc:sldLayoutMk cId="3087692832" sldId="2147483655"/>
          </pc:sldLayoutMkLst>
        </pc:sldLayoutChg>
        <pc:sldLayoutChg chg="del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594725491" sldId="2147483648"/>
            <pc:sldLayoutMk cId="3453883237" sldId="2147483656"/>
          </pc:sldLayoutMkLst>
        </pc:sldLayoutChg>
        <pc:sldLayoutChg chg="del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594725491" sldId="2147483648"/>
            <pc:sldLayoutMk cId="2509888776" sldId="2147483657"/>
          </pc:sldLayoutMkLst>
        </pc:sldLayoutChg>
        <pc:sldLayoutChg chg="del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594725491" sldId="2147483648"/>
            <pc:sldLayoutMk cId="1699206799" sldId="2147483658"/>
          </pc:sldLayoutMkLst>
        </pc:sldLayoutChg>
        <pc:sldLayoutChg chg="del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594725491" sldId="2147483648"/>
            <pc:sldLayoutMk cId="2809958959" sldId="2147483659"/>
          </pc:sldLayoutMkLst>
        </pc:sldLayoutChg>
      </pc:sldMasterChg>
      <pc:sldMasterChg chg="add addSldLayout">
        <pc:chgData name="Bludau, Isabell" userId="S::gh018@uni-heidelberg.de::7886601c-7413-4c43-800c-1c3860962d2f" providerId="AD" clId="Web-{CBA50048-1538-7555-1B24-B2BBA987F2B0}" dt="2025-11-08T15:16:37.546" v="57"/>
        <pc:sldMasterMkLst>
          <pc:docMk/>
          <pc:sldMasterMk cId="3956121080" sldId="2147483722"/>
        </pc:sldMasterMkLst>
        <pc:sldLayoutChg chg="add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3956121080" sldId="2147483722"/>
            <pc:sldLayoutMk cId="2761263320" sldId="2147483711"/>
          </pc:sldLayoutMkLst>
        </pc:sldLayoutChg>
        <pc:sldLayoutChg chg="add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3956121080" sldId="2147483722"/>
            <pc:sldLayoutMk cId="3913729209" sldId="2147483712"/>
          </pc:sldLayoutMkLst>
        </pc:sldLayoutChg>
        <pc:sldLayoutChg chg="add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3956121080" sldId="2147483722"/>
            <pc:sldLayoutMk cId="3124231474" sldId="2147483713"/>
          </pc:sldLayoutMkLst>
        </pc:sldLayoutChg>
        <pc:sldLayoutChg chg="add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3956121080" sldId="2147483722"/>
            <pc:sldLayoutMk cId="2465527110" sldId="2147483714"/>
          </pc:sldLayoutMkLst>
        </pc:sldLayoutChg>
        <pc:sldLayoutChg chg="add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3956121080" sldId="2147483722"/>
            <pc:sldLayoutMk cId="2358051849" sldId="2147483715"/>
          </pc:sldLayoutMkLst>
        </pc:sldLayoutChg>
        <pc:sldLayoutChg chg="add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3956121080" sldId="2147483722"/>
            <pc:sldLayoutMk cId="2132318089" sldId="2147483716"/>
          </pc:sldLayoutMkLst>
        </pc:sldLayoutChg>
        <pc:sldLayoutChg chg="add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3956121080" sldId="2147483722"/>
            <pc:sldLayoutMk cId="1810733155" sldId="2147483717"/>
          </pc:sldLayoutMkLst>
        </pc:sldLayoutChg>
        <pc:sldLayoutChg chg="add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3956121080" sldId="2147483722"/>
            <pc:sldLayoutMk cId="1025649471" sldId="2147483718"/>
          </pc:sldLayoutMkLst>
        </pc:sldLayoutChg>
        <pc:sldLayoutChg chg="add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3956121080" sldId="2147483722"/>
            <pc:sldLayoutMk cId="1947598251" sldId="2147483719"/>
          </pc:sldLayoutMkLst>
        </pc:sldLayoutChg>
        <pc:sldLayoutChg chg="add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3956121080" sldId="2147483722"/>
            <pc:sldLayoutMk cId="3889523661" sldId="2147483720"/>
          </pc:sldLayoutMkLst>
        </pc:sldLayoutChg>
        <pc:sldLayoutChg chg="add">
          <pc:chgData name="Bludau, Isabell" userId="S::gh018@uni-heidelberg.de::7886601c-7413-4c43-800c-1c3860962d2f" providerId="AD" clId="Web-{CBA50048-1538-7555-1B24-B2BBA987F2B0}" dt="2025-11-08T15:16:37.546" v="57"/>
          <pc:sldLayoutMkLst>
            <pc:docMk/>
            <pc:sldMasterMk cId="3956121080" sldId="2147483722"/>
            <pc:sldLayoutMk cId="204520414" sldId="2147483721"/>
          </pc:sldLayoutMkLst>
        </pc:sldLayoutChg>
      </pc:sldMasterChg>
    </pc:docChg>
  </pc:docChgLst>
  <pc:docChgLst>
    <pc:chgData name="Bludau, Isabell" userId="S::gh018@uni-heidelberg.de::7886601c-7413-4c43-800c-1c3860962d2f" providerId="AD" clId="Web-{F5E4FF70-7CA7-30C0-A89C-CF71D59238E6}"/>
    <pc:docChg chg="addSld modSld">
      <pc:chgData name="Bludau, Isabell" userId="S::gh018@uni-heidelberg.de::7886601c-7413-4c43-800c-1c3860962d2f" providerId="AD" clId="Web-{F5E4FF70-7CA7-30C0-A89C-CF71D59238E6}" dt="2025-11-08T15:22:17.767" v="52"/>
      <pc:docMkLst>
        <pc:docMk/>
      </pc:docMkLst>
      <pc:sldChg chg="delSp modSp">
        <pc:chgData name="Bludau, Isabell" userId="S::gh018@uni-heidelberg.de::7886601c-7413-4c43-800c-1c3860962d2f" providerId="AD" clId="Web-{F5E4FF70-7CA7-30C0-A89C-CF71D59238E6}" dt="2025-11-08T15:21:47.469" v="47"/>
        <pc:sldMkLst>
          <pc:docMk/>
          <pc:sldMk cId="1577499883" sldId="256"/>
        </pc:sldMkLst>
        <pc:spChg chg="mod">
          <ac:chgData name="Bludau, Isabell" userId="S::gh018@uni-heidelberg.de::7886601c-7413-4c43-800c-1c3860962d2f" providerId="AD" clId="Web-{F5E4FF70-7CA7-30C0-A89C-CF71D59238E6}" dt="2025-11-08T15:21:44.126" v="46" actId="1076"/>
          <ac:spMkLst>
            <pc:docMk/>
            <pc:sldMk cId="1577499883" sldId="256"/>
            <ac:spMk id="2" creationId="{00000000-0000-0000-0000-000000000000}"/>
          </ac:spMkLst>
        </pc:spChg>
        <pc:spChg chg="mod">
          <ac:chgData name="Bludau, Isabell" userId="S::gh018@uni-heidelberg.de::7886601c-7413-4c43-800c-1c3860962d2f" providerId="AD" clId="Web-{F5E4FF70-7CA7-30C0-A89C-CF71D59238E6}" dt="2025-11-08T15:19:59.890" v="30" actId="1076"/>
          <ac:spMkLst>
            <pc:docMk/>
            <pc:sldMk cId="1577499883" sldId="256"/>
            <ac:spMk id="3" creationId="{00000000-0000-0000-0000-000000000000}"/>
          </ac:spMkLst>
        </pc:spChg>
        <pc:picChg chg="del mod">
          <ac:chgData name="Bludau, Isabell" userId="S::gh018@uni-heidelberg.de::7886601c-7413-4c43-800c-1c3860962d2f" providerId="AD" clId="Web-{F5E4FF70-7CA7-30C0-A89C-CF71D59238E6}" dt="2025-11-08T15:21:47.469" v="47"/>
          <ac:picMkLst>
            <pc:docMk/>
            <pc:sldMk cId="1577499883" sldId="256"/>
            <ac:picMk id="4" creationId="{AB0A8BC3-E5AD-B210-4674-E7161E712C4A}"/>
          </ac:picMkLst>
        </pc:picChg>
      </pc:sldChg>
      <pc:sldChg chg="addSp delSp modSp new">
        <pc:chgData name="Bludau, Isabell" userId="S::gh018@uni-heidelberg.de::7886601c-7413-4c43-800c-1c3860962d2f" providerId="AD" clId="Web-{F5E4FF70-7CA7-30C0-A89C-CF71D59238E6}" dt="2025-11-08T15:22:17.767" v="52"/>
        <pc:sldMkLst>
          <pc:docMk/>
          <pc:sldMk cId="4105825464" sldId="257"/>
        </pc:sldMkLst>
        <pc:spChg chg="del mod">
          <ac:chgData name="Bludau, Isabell" userId="S::gh018@uni-heidelberg.de::7886601c-7413-4c43-800c-1c3860962d2f" providerId="AD" clId="Web-{F5E4FF70-7CA7-30C0-A89C-CF71D59238E6}" dt="2025-11-08T15:22:17.767" v="52"/>
          <ac:spMkLst>
            <pc:docMk/>
            <pc:sldMk cId="4105825464" sldId="257"/>
            <ac:spMk id="2" creationId="{36716B03-A84B-F57C-D348-B654758FEB9D}"/>
          </ac:spMkLst>
        </pc:spChg>
        <pc:spChg chg="add mod">
          <ac:chgData name="Bludau, Isabell" userId="S::gh018@uni-heidelberg.de::7886601c-7413-4c43-800c-1c3860962d2f" providerId="AD" clId="Web-{F5E4FF70-7CA7-30C0-A89C-CF71D59238E6}" dt="2025-11-08T15:22:17.767" v="52"/>
          <ac:spMkLst>
            <pc:docMk/>
            <pc:sldMk cId="4105825464" sldId="257"/>
            <ac:spMk id="5" creationId="{CD6D6D9F-7007-D067-A25F-6F46FA729D0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733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359" y="244739"/>
            <a:ext cx="10540106" cy="6724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359" y="1342795"/>
            <a:ext cx="10540106" cy="466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649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98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23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0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05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263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2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31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27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318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11/8/25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121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15" r:id="rId6"/>
    <p:sldLayoutId id="2147483711" r:id="rId7"/>
    <p:sldLayoutId id="2147483712" r:id="rId8"/>
    <p:sldLayoutId id="2147483713" r:id="rId9"/>
    <p:sldLayoutId id="2147483714" r:id="rId10"/>
    <p:sldLayoutId id="2147483716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datacamp.com/learn/courses/intermediate-python" TargetMode="External"/><Relationship Id="rId2" Type="http://schemas.openxmlformats.org/officeDocument/2006/relationships/hyperlink" Target="https://app.datacamp.com/learn/courses/intro-to-python-for-data-scienc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datacamp.com/learn/courses/introduction-to-testing-in-python" TargetMode="External"/><Relationship Id="rId7" Type="http://schemas.openxmlformats.org/officeDocument/2006/relationships/image" Target="../media/image3.jpeg"/><Relationship Id="rId2" Type="http://schemas.openxmlformats.org/officeDocument/2006/relationships/hyperlink" Target="https://app.datacamp.com/learn/courses/introduction-to-functions-in-pyth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pp.datacamp.com/learn/courses/introduction-to-github-concepts" TargetMode="External"/><Relationship Id="rId5" Type="http://schemas.openxmlformats.org/officeDocument/2006/relationships/hyperlink" Target="https://app.datacamp.com/learn/courses/introduction-to-git" TargetMode="External"/><Relationship Id="rId4" Type="http://schemas.openxmlformats.org/officeDocument/2006/relationships/hyperlink" Target="https://app.datacamp.com/learn/courses/developing-python-packages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845648E2-B946-43A1-80DE-C50CBBDF9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084728" y="1456447"/>
            <a:ext cx="8411353" cy="2770415"/>
          </a:xfrm>
        </p:spPr>
        <p:txBody>
          <a:bodyPr anchor="b">
            <a:normAutofit/>
          </a:bodyPr>
          <a:lstStyle/>
          <a:p>
            <a:r>
              <a:rPr lang="de-DE" dirty="0" err="1"/>
              <a:t>Advanced</a:t>
            </a:r>
            <a:r>
              <a:rPr lang="de-DE" dirty="0"/>
              <a:t> Python Course:</a:t>
            </a:r>
            <a:br>
              <a:rPr lang="de-DE" dirty="0"/>
            </a:br>
            <a:r>
              <a:rPr lang="de-DE" b="0" dirty="0" err="1">
                <a:ea typeface="+mj-lt"/>
                <a:cs typeface="+mj-lt"/>
              </a:rPr>
              <a:t>From</a:t>
            </a:r>
            <a:r>
              <a:rPr lang="de-DE" b="0" dirty="0">
                <a:ea typeface="+mj-lt"/>
                <a:cs typeface="+mj-lt"/>
              </a:rPr>
              <a:t> “Python User” </a:t>
            </a:r>
            <a:r>
              <a:rPr lang="de-DE" b="0" dirty="0" err="1">
                <a:ea typeface="+mj-lt"/>
                <a:cs typeface="+mj-lt"/>
              </a:rPr>
              <a:t>to</a:t>
            </a:r>
            <a:r>
              <a:rPr lang="de-DE" b="0" dirty="0">
                <a:ea typeface="+mj-lt"/>
                <a:cs typeface="+mj-lt"/>
              </a:rPr>
              <a:t> “Python Developer”</a:t>
            </a:r>
            <a:endParaRPr lang="de-DE" dirty="0" err="1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084728" y="4750089"/>
            <a:ext cx="4873497" cy="9850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z="2400" dirty="0"/>
              <a:t>Isabell Bludau </a:t>
            </a:r>
            <a:br>
              <a:rPr lang="de-DE" sz="2400" dirty="0"/>
            </a:br>
            <a:r>
              <a:rPr lang="de-DE" sz="2400" dirty="0"/>
              <a:t>&amp; Ian Dirk Fichtner</a:t>
            </a:r>
          </a:p>
        </p:txBody>
      </p:sp>
      <p:sp>
        <p:nvSpPr>
          <p:cNvPr id="22" name="Freeform: Shape 10">
            <a:extLst>
              <a:ext uri="{FF2B5EF4-FFF2-40B4-BE49-F238E27FC236}">
                <a16:creationId xmlns:a16="http://schemas.microsoft.com/office/drawing/2014/main" id="{EA06546B-3E90-4E24-BD32-C6BFD1CD8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12">
            <a:extLst>
              <a:ext uri="{FF2B5EF4-FFF2-40B4-BE49-F238E27FC236}">
                <a16:creationId xmlns:a16="http://schemas.microsoft.com/office/drawing/2014/main" id="{3FA95682-BEE6-4B33-BA34-7E7BE4978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3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3DB1DF-69C3-DB35-BF4B-C24CEC522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359" y="1342795"/>
            <a:ext cx="11381180" cy="4664600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Revisit and improve general Python programming</a:t>
            </a:r>
          </a:p>
          <a:p>
            <a:pPr lvl="0"/>
            <a:r>
              <a:rPr lang="en-US" sz="2400" dirty="0"/>
              <a:t>Write and document your </a:t>
            </a:r>
            <a:r>
              <a:rPr lang="en-US" sz="2400" b="1" dirty="0"/>
              <a:t>own functions</a:t>
            </a:r>
            <a:endParaRPr lang="en-DE" sz="2400" dirty="0"/>
          </a:p>
          <a:p>
            <a:pPr lvl="0"/>
            <a:r>
              <a:rPr lang="en-US" sz="2400" dirty="0"/>
              <a:t>Test your functions using </a:t>
            </a:r>
            <a:r>
              <a:rPr lang="en-US" sz="2400" b="1" dirty="0"/>
              <a:t>unit tests</a:t>
            </a:r>
          </a:p>
          <a:p>
            <a:r>
              <a:rPr lang="en-US" sz="2400" dirty="0"/>
              <a:t>Set up a small </a:t>
            </a:r>
            <a:r>
              <a:rPr lang="en-US" sz="2400" b="1" dirty="0"/>
              <a:t>Python package</a:t>
            </a:r>
            <a:endParaRPr lang="en-DE" sz="2400" dirty="0"/>
          </a:p>
          <a:p>
            <a:pPr lvl="0"/>
            <a:r>
              <a:rPr lang="en-US" sz="2400" dirty="0"/>
              <a:t>Use </a:t>
            </a:r>
            <a:r>
              <a:rPr lang="en-US" sz="2400" b="1" dirty="0"/>
              <a:t>version control</a:t>
            </a:r>
            <a:r>
              <a:rPr lang="en-US" sz="2400" dirty="0"/>
              <a:t> and </a:t>
            </a:r>
            <a:r>
              <a:rPr lang="en-US" sz="2400" b="1" dirty="0"/>
              <a:t>collaborative tools </a:t>
            </a:r>
            <a:r>
              <a:rPr lang="en-US" sz="2400" dirty="0"/>
              <a:t>and share your package via </a:t>
            </a:r>
            <a:r>
              <a:rPr lang="en-US" sz="2400" b="1" dirty="0"/>
              <a:t>GitHub</a:t>
            </a:r>
            <a:endParaRPr lang="en-DE" sz="2400" b="1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D6D6D9F-7007-D067-A25F-6F46FA729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you‘ll</a:t>
            </a:r>
            <a:r>
              <a:rPr lang="de-DE" dirty="0"/>
              <a:t> </a:t>
            </a:r>
            <a:r>
              <a:rPr lang="de-DE" dirty="0" err="1"/>
              <a:t>learn</a:t>
            </a:r>
            <a:endParaRPr lang="de-DE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6437E5-3D27-6DF6-4A4D-3B29FE4A2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81" b="24560"/>
          <a:stretch>
            <a:fillRect/>
          </a:stretch>
        </p:blipFill>
        <p:spPr>
          <a:xfrm>
            <a:off x="2802717" y="4885289"/>
            <a:ext cx="5370899" cy="172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825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F1835-F09C-2FE5-7A51-C8C7B0215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Course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145A8-6C53-2B05-50FF-78DEE24B7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358" y="1342795"/>
            <a:ext cx="11704642" cy="4664600"/>
          </a:xfrm>
        </p:spPr>
        <p:txBody>
          <a:bodyPr>
            <a:normAutofit/>
          </a:bodyPr>
          <a:lstStyle/>
          <a:p>
            <a:r>
              <a:rPr lang="en-DE" sz="3200" b="1" dirty="0"/>
              <a:t>Week 1</a:t>
            </a:r>
            <a:r>
              <a:rPr lang="en-DE" sz="3200" dirty="0"/>
              <a:t>: </a:t>
            </a:r>
            <a:r>
              <a:rPr lang="en-US" sz="3200" dirty="0"/>
              <a:t>Self-organized learning using </a:t>
            </a:r>
            <a:r>
              <a:rPr lang="en-US" sz="3200" dirty="0" err="1"/>
              <a:t>DataCamp</a:t>
            </a:r>
            <a:r>
              <a:rPr lang="en-DE" sz="3200" dirty="0"/>
              <a:t> </a:t>
            </a:r>
          </a:p>
          <a:p>
            <a:pPr marL="560070" lvl="1" indent="-285750">
              <a:buFont typeface="Courier New" panose="02070309020205020404" pitchFamily="49" charset="0"/>
              <a:buChar char="o"/>
            </a:pPr>
            <a:r>
              <a:rPr lang="en-DE" sz="2800" dirty="0"/>
              <a:t>Programming &amp; developer skills</a:t>
            </a:r>
            <a:br>
              <a:rPr lang="en-DE" sz="2800" dirty="0"/>
            </a:br>
            <a:endParaRPr lang="en-DE" sz="2800" dirty="0"/>
          </a:p>
          <a:p>
            <a:r>
              <a:rPr lang="en-DE" sz="3200" b="1" dirty="0"/>
              <a:t>Week 2</a:t>
            </a:r>
            <a:r>
              <a:rPr lang="en-DE" sz="3200" dirty="0"/>
              <a:t>: </a:t>
            </a:r>
            <a:r>
              <a:rPr lang="en-GB" sz="3200" dirty="0"/>
              <a:t>Course project — build your own mini Python library</a:t>
            </a:r>
          </a:p>
          <a:p>
            <a:pPr marL="560070" lvl="1" indent="-285750">
              <a:buFont typeface="Courier New" panose="02070309020205020404" pitchFamily="49" charset="0"/>
              <a:buChar char="o"/>
            </a:pPr>
            <a:r>
              <a:rPr lang="en-GB" sz="2800" dirty="0"/>
              <a:t>Hands on </a:t>
            </a:r>
            <a:r>
              <a:rPr lang="en-GB" sz="2800" i="1" dirty="0"/>
              <a:t>in silico </a:t>
            </a:r>
            <a:r>
              <a:rPr lang="en-GB" sz="2800" dirty="0"/>
              <a:t>proteomics experiment</a:t>
            </a:r>
            <a:endParaRPr lang="en-DE" sz="2800" dirty="0"/>
          </a:p>
        </p:txBody>
      </p:sp>
    </p:spTree>
    <p:extLst>
      <p:ext uri="{BB962C8B-B14F-4D97-AF65-F5344CB8AC3E}">
        <p14:creationId xmlns:p14="http://schemas.microsoft.com/office/powerpoint/2010/main" val="2238842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2B86A-2DBF-5FE5-5FBF-585538EBF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Week 1: From </a:t>
            </a:r>
            <a:r>
              <a:rPr lang="en-US" dirty="0"/>
              <a:t>Python programming skills …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C168B-DCDD-CD83-8975-3D55BC2E4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359" y="1342795"/>
            <a:ext cx="4504189" cy="4664600"/>
          </a:xfrm>
        </p:spPr>
        <p:txBody>
          <a:bodyPr>
            <a:normAutofit/>
          </a:bodyPr>
          <a:lstStyle/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b="0" dirty="0"/>
              <a:t>String operations</a:t>
            </a:r>
            <a:endParaRPr lang="en-DE" b="0" dirty="0"/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b="0" dirty="0"/>
              <a:t>Regular expressions</a:t>
            </a:r>
            <a:endParaRPr lang="en-DE" b="0" dirty="0"/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b="0" dirty="0"/>
              <a:t>Lists and dictionaries</a:t>
            </a:r>
            <a:endParaRPr lang="en-DE" b="0" dirty="0"/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b="0" dirty="0"/>
              <a:t>List and dictionary comprehensions</a:t>
            </a:r>
            <a:endParaRPr lang="en-DE" b="0" dirty="0"/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b="0" dirty="0"/>
              <a:t>Slicing</a:t>
            </a:r>
            <a:endParaRPr lang="en-DE" b="0" dirty="0"/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b="0" dirty="0"/>
              <a:t>Loops</a:t>
            </a:r>
            <a:endParaRPr lang="en-DE" b="0" dirty="0"/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b="0" dirty="0"/>
              <a:t>If/else statements</a:t>
            </a:r>
            <a:endParaRPr lang="en-DE" b="0" dirty="0"/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b="0" dirty="0"/>
              <a:t>Using external libraries</a:t>
            </a:r>
            <a:endParaRPr lang="en-DE" b="0" dirty="0"/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b="0" dirty="0"/>
              <a:t>NumPy</a:t>
            </a:r>
            <a:endParaRPr lang="en-DE" b="0" dirty="0"/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b="0" dirty="0"/>
              <a:t>Pandas</a:t>
            </a:r>
            <a:endParaRPr lang="en-DE" b="0" dirty="0"/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b="0" dirty="0"/>
              <a:t>Simple visualizations with Matplotlib</a:t>
            </a:r>
            <a:endParaRPr lang="en-DE" b="0" dirty="0"/>
          </a:p>
          <a:p>
            <a:endParaRPr lang="en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2CE3F4-6DA8-E3E1-BC15-155B06F03A4A}"/>
              </a:ext>
            </a:extLst>
          </p:cNvPr>
          <p:cNvSpPr txBox="1">
            <a:spLocks/>
          </p:cNvSpPr>
          <p:nvPr/>
        </p:nvSpPr>
        <p:spPr>
          <a:xfrm>
            <a:off x="5351608" y="1342795"/>
            <a:ext cx="4504189" cy="4664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DE" dirty="0"/>
              <a:t>Recommended courses:</a:t>
            </a:r>
          </a:p>
          <a:p>
            <a:pPr lvl="0"/>
            <a:r>
              <a:rPr lang="en-US" u="sng" dirty="0">
                <a:hlinkClick r:id="rId2"/>
              </a:rPr>
              <a:t>https://app.datacamp.com/learn/courses/intro-to-python-for-data-science</a:t>
            </a:r>
            <a:r>
              <a:rPr lang="de-DE" dirty="0"/>
              <a:t> </a:t>
            </a:r>
            <a:endParaRPr lang="en-DE" dirty="0"/>
          </a:p>
          <a:p>
            <a:pPr lvl="0"/>
            <a:r>
              <a:rPr lang="en-US" u="sng" dirty="0">
                <a:hlinkClick r:id="rId3"/>
              </a:rPr>
              <a:t>https://app.datacamp.com/learn/courses/intermediate-python</a:t>
            </a:r>
            <a:endParaRPr lang="en-DE" dirty="0"/>
          </a:p>
          <a:p>
            <a:endParaRPr lang="en-DE" dirty="0"/>
          </a:p>
        </p:txBody>
      </p:sp>
      <p:pic>
        <p:nvPicPr>
          <p:cNvPr id="1026" name="Picture 2" descr="Show of hands Images - Free Download on Freepik">
            <a:extLst>
              <a:ext uri="{FF2B5EF4-FFF2-40B4-BE49-F238E27FC236}">
                <a16:creationId xmlns:a16="http://schemas.microsoft.com/office/drawing/2014/main" id="{CA59E8A1-EC0B-3930-59C5-8152A8E3C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625" y="3620768"/>
            <a:ext cx="5043266" cy="3237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E6473F-4B5B-B0B0-F027-28810A0C1A6C}"/>
              </a:ext>
            </a:extLst>
          </p:cNvPr>
          <p:cNvSpPr txBox="1"/>
          <p:nvPr/>
        </p:nvSpPr>
        <p:spPr>
          <a:xfrm>
            <a:off x="5351608" y="4272504"/>
            <a:ext cx="5484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>
                <a:solidFill>
                  <a:srgbClr val="C00000"/>
                </a:solidFill>
              </a:rPr>
              <a:t>Who already feels comfortable with these skills – what do you need to revise?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6ABDC0-4CF7-B227-6232-2EC25798D3FF}"/>
              </a:ext>
            </a:extLst>
          </p:cNvPr>
          <p:cNvSpPr txBox="1"/>
          <p:nvPr/>
        </p:nvSpPr>
        <p:spPr>
          <a:xfrm>
            <a:off x="5351608" y="3460945"/>
            <a:ext cx="582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This is what’s covered in the “Standard Python Course”</a:t>
            </a:r>
          </a:p>
        </p:txBody>
      </p:sp>
    </p:spTree>
    <p:extLst>
      <p:ext uri="{BB962C8B-B14F-4D97-AF65-F5344CB8AC3E}">
        <p14:creationId xmlns:p14="http://schemas.microsoft.com/office/powerpoint/2010/main" val="3907754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6682B-3A5B-5A85-0A96-764685D2E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5F6BA-758B-7409-A6E7-8D0F73198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Week 1: … to </a:t>
            </a:r>
            <a:r>
              <a:rPr lang="en-US" dirty="0"/>
              <a:t>Python developer skills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1C29F-1DB7-F9A9-8A3D-CF6275DE6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358" y="1342795"/>
            <a:ext cx="10904989" cy="38531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Writing your own functions:</a:t>
            </a:r>
            <a:br>
              <a:rPr lang="en-DE" b="1" dirty="0"/>
            </a:br>
            <a:r>
              <a:rPr lang="en-US" u="sng" dirty="0">
                <a:hlinkClick r:id="rId2"/>
              </a:rPr>
              <a:t>https://app.datacamp.com/learn/courses/introduction-to-functions-in-python</a:t>
            </a:r>
            <a:r>
              <a:rPr lang="de-DE" dirty="0"/>
              <a:t> </a:t>
            </a:r>
            <a:endParaRPr lang="en-DE" dirty="0"/>
          </a:p>
          <a:p>
            <a:pPr>
              <a:spcAft>
                <a:spcPts val="600"/>
              </a:spcAft>
            </a:pPr>
            <a:r>
              <a:rPr lang="en-US" b="1" dirty="0"/>
              <a:t>Writing and running test functions:</a:t>
            </a:r>
            <a:br>
              <a:rPr lang="en-DE" b="1" dirty="0"/>
            </a:br>
            <a:r>
              <a:rPr lang="en-US" u="sng" dirty="0">
                <a:hlinkClick r:id="rId3"/>
              </a:rPr>
              <a:t>https://app.datacamp.com/learn/courses/introduction-to-testing-in-python</a:t>
            </a:r>
            <a:r>
              <a:rPr lang="en-US" dirty="0"/>
              <a:t> (Chapters 1-3)</a:t>
            </a:r>
            <a:endParaRPr lang="en-DE" dirty="0"/>
          </a:p>
          <a:p>
            <a:pPr>
              <a:spcAft>
                <a:spcPts val="600"/>
              </a:spcAft>
            </a:pPr>
            <a:r>
              <a:rPr lang="de-DE" b="1" dirty="0"/>
              <a:t>Package </a:t>
            </a:r>
            <a:r>
              <a:rPr lang="de-DE" b="1" dirty="0" err="1"/>
              <a:t>development</a:t>
            </a:r>
            <a:r>
              <a:rPr lang="de-DE" b="1" dirty="0"/>
              <a:t> in Python:</a:t>
            </a:r>
            <a:br>
              <a:rPr lang="en-DE" b="1" dirty="0"/>
            </a:br>
            <a:r>
              <a:rPr lang="de-DE" u="sng" dirty="0">
                <a:hlinkClick r:id="rId4"/>
              </a:rPr>
              <a:t>https://app.datacamp.com/learn/courses/developing-python-packages</a:t>
            </a:r>
            <a:r>
              <a:rPr lang="de-DE" u="sng" dirty="0"/>
              <a:t> </a:t>
            </a:r>
            <a:r>
              <a:rPr lang="de-DE" dirty="0"/>
              <a:t> </a:t>
            </a:r>
            <a:endParaRPr lang="en-DE" dirty="0"/>
          </a:p>
          <a:p>
            <a:pPr>
              <a:spcAft>
                <a:spcPts val="600"/>
              </a:spcAft>
            </a:pPr>
            <a:r>
              <a:rPr lang="en-US" b="1" dirty="0"/>
              <a:t>Version control and collaboration with Git and GitHub:</a:t>
            </a:r>
            <a:br>
              <a:rPr lang="en-DE" b="1" dirty="0"/>
            </a:br>
            <a:r>
              <a:rPr lang="en-US" u="sng" dirty="0">
                <a:hlinkClick r:id="rId5"/>
              </a:rPr>
              <a:t>https://app.datacamp.com/learn/courses/introduction-to-git</a:t>
            </a:r>
            <a:r>
              <a:rPr lang="en-US" u="sng" dirty="0"/>
              <a:t> </a:t>
            </a:r>
            <a:br>
              <a:rPr lang="de-DE" u="sng" dirty="0"/>
            </a:br>
            <a:r>
              <a:rPr lang="en-US" u="sng" dirty="0">
                <a:hlinkClick r:id="rId6"/>
              </a:rPr>
              <a:t>https://app.datacamp.com/learn/courses/introduction-to-github-concepts</a:t>
            </a:r>
            <a:r>
              <a:rPr lang="en-DE" u="sng" dirty="0"/>
              <a:t> 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7643C0-3BFF-F2B8-C258-8AE357B9C150}"/>
              </a:ext>
            </a:extLst>
          </p:cNvPr>
          <p:cNvSpPr txBox="1"/>
          <p:nvPr/>
        </p:nvSpPr>
        <p:spPr>
          <a:xfrm>
            <a:off x="5029618" y="5547436"/>
            <a:ext cx="2884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>
                <a:solidFill>
                  <a:srgbClr val="C00000"/>
                </a:solidFill>
              </a:rPr>
              <a:t>Does anyone already have experience?</a:t>
            </a:r>
          </a:p>
        </p:txBody>
      </p:sp>
      <p:pic>
        <p:nvPicPr>
          <p:cNvPr id="2050" name="Picture 2" descr="Programmer icon or developer or engineer or software engineer icon isolated  white background | Premium Vector">
            <a:extLst>
              <a:ext uri="{FF2B5EF4-FFF2-40B4-BE49-F238E27FC236}">
                <a16:creationId xmlns:a16="http://schemas.microsoft.com/office/drawing/2014/main" id="{2CA92C8C-1145-743D-9273-7268DC5D7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8916" y="5515206"/>
            <a:ext cx="1383511" cy="135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7358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5014B-0D6D-5F06-9995-CF2FF4B6B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358" y="244739"/>
            <a:ext cx="12193926" cy="672431"/>
          </a:xfrm>
        </p:spPr>
        <p:txBody>
          <a:bodyPr>
            <a:normAutofit fontScale="90000"/>
          </a:bodyPr>
          <a:lstStyle/>
          <a:p>
            <a:r>
              <a:rPr lang="en-DE" dirty="0"/>
              <a:t>Week 2: Course project – </a:t>
            </a:r>
            <a:r>
              <a:rPr lang="en-GB" dirty="0"/>
              <a:t>In-Silico Mass Spectrometry Proteomics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2FBD4-5AA3-2BB4-62EE-6DC6B8857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358" y="1342795"/>
            <a:ext cx="11062957" cy="527046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2400" b="1" dirty="0"/>
              <a:t>Goal: </a:t>
            </a:r>
            <a:r>
              <a:rPr lang="en-GB" sz="2400" dirty="0"/>
              <a:t>Perform a </a:t>
            </a:r>
            <a:r>
              <a:rPr lang="en-GB" sz="2400" b="1" dirty="0"/>
              <a:t>simulated (in silico) proteomics experiment</a:t>
            </a:r>
            <a:r>
              <a:rPr lang="en-GB" sz="2400" dirty="0"/>
              <a:t> and understand the </a:t>
            </a:r>
            <a:r>
              <a:rPr lang="en-GB" sz="2400" b="1" dirty="0"/>
              <a:t>classical MS-based workflow</a:t>
            </a:r>
            <a:r>
              <a:rPr lang="en-GB" sz="2400" dirty="0"/>
              <a:t>.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400" b="1" dirty="0"/>
              <a:t>You will:</a:t>
            </a:r>
            <a:endParaRPr lang="en-GB" sz="2400" dirty="0"/>
          </a:p>
          <a:p>
            <a:r>
              <a:rPr lang="en-GB" sz="2400" dirty="0"/>
              <a:t>Recreate the main steps of a </a:t>
            </a:r>
            <a:r>
              <a:rPr lang="en-GB" sz="2400" b="1" dirty="0"/>
              <a:t>proteomics pipeline</a:t>
            </a:r>
            <a:r>
              <a:rPr lang="en-GB" sz="2400" dirty="0"/>
              <a:t>:</a:t>
            </a:r>
            <a:br>
              <a:rPr lang="en-GB" sz="2400" dirty="0"/>
            </a:br>
            <a:r>
              <a:rPr lang="en-GB" sz="2400" b="1" dirty="0"/>
              <a:t>Proteins → Peptides → Spectra → Search → Score → Report</a:t>
            </a:r>
            <a:endParaRPr lang="en-GB" sz="2400" dirty="0"/>
          </a:p>
          <a:p>
            <a:r>
              <a:rPr lang="en-GB" sz="2400" dirty="0"/>
              <a:t>Implement each step as </a:t>
            </a:r>
            <a:r>
              <a:rPr lang="en-GB" sz="2400" b="1" dirty="0"/>
              <a:t>Python functions</a:t>
            </a:r>
            <a:r>
              <a:rPr lang="en-GB" sz="2400" dirty="0"/>
              <a:t>, then bundle them into a </a:t>
            </a:r>
            <a:r>
              <a:rPr lang="en-GB" sz="2400" b="1" dirty="0"/>
              <a:t>mini package</a:t>
            </a:r>
            <a:endParaRPr lang="en-GB" sz="2400" dirty="0"/>
          </a:p>
          <a:p>
            <a:r>
              <a:rPr lang="en-GB" sz="2400" dirty="0"/>
              <a:t>Apply </a:t>
            </a:r>
            <a:r>
              <a:rPr lang="en-GB" sz="2400" b="1" dirty="0"/>
              <a:t>testing, documentation, and version control</a:t>
            </a:r>
            <a:r>
              <a:rPr lang="en-GB" sz="2400" dirty="0"/>
              <a:t> practices</a:t>
            </a:r>
          </a:p>
          <a:p>
            <a:r>
              <a:rPr lang="en-GB" sz="2400" dirty="0"/>
              <a:t>Produce clear </a:t>
            </a:r>
            <a:r>
              <a:rPr lang="en-GB" sz="2400" b="1" dirty="0"/>
              <a:t>plots and reports</a:t>
            </a:r>
            <a:r>
              <a:rPr lang="en-GB" sz="2400" dirty="0"/>
              <a:t> illustrating the workflow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400" b="1" dirty="0"/>
              <a:t>Outcome:</a:t>
            </a:r>
          </a:p>
          <a:p>
            <a:pPr marL="0" indent="0">
              <a:buNone/>
            </a:pPr>
            <a:r>
              <a:rPr lang="en-GB" sz="2400" dirty="0"/>
              <a:t>A small </a:t>
            </a:r>
            <a:r>
              <a:rPr lang="en-GB" sz="2400" b="1" dirty="0"/>
              <a:t>Python library</a:t>
            </a:r>
            <a:r>
              <a:rPr lang="en-GB" sz="2400" dirty="0"/>
              <a:t> that performs a simplified proteomics search </a:t>
            </a:r>
            <a:br>
              <a:rPr lang="en-GB" sz="2400" dirty="0"/>
            </a:br>
            <a:r>
              <a:rPr lang="en-GB" sz="2400" dirty="0"/>
              <a:t>— your first full developer-level project!</a:t>
            </a:r>
          </a:p>
        </p:txBody>
      </p:sp>
    </p:spTree>
    <p:extLst>
      <p:ext uri="{BB962C8B-B14F-4D97-AF65-F5344CB8AC3E}">
        <p14:creationId xmlns:p14="http://schemas.microsoft.com/office/powerpoint/2010/main" val="1381268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F2348-A6C0-045D-59BB-2F0688BBE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359" y="244739"/>
            <a:ext cx="4009996" cy="672431"/>
          </a:xfrm>
        </p:spPr>
        <p:txBody>
          <a:bodyPr/>
          <a:lstStyle/>
          <a:p>
            <a:r>
              <a:rPr lang="en-DE" dirty="0"/>
              <a:t>What you’ll need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EEB95-6D43-8326-A592-E0DE73FB8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359" y="1342795"/>
            <a:ext cx="4476527" cy="2221499"/>
          </a:xfrm>
        </p:spPr>
        <p:txBody>
          <a:bodyPr/>
          <a:lstStyle/>
          <a:p>
            <a:r>
              <a:rPr lang="en-DE" dirty="0"/>
              <a:t>Python (≥ 3.10)</a:t>
            </a:r>
          </a:p>
          <a:p>
            <a:r>
              <a:rPr lang="en-GB" dirty="0" err="1"/>
              <a:t>JupyterLab</a:t>
            </a:r>
            <a:r>
              <a:rPr lang="en-GB" dirty="0"/>
              <a:t> or Google Colab</a:t>
            </a:r>
          </a:p>
          <a:p>
            <a:r>
              <a:rPr lang="en-GB" dirty="0"/>
              <a:t>pip and virtual environments</a:t>
            </a:r>
          </a:p>
          <a:p>
            <a:r>
              <a:rPr lang="en-GB" dirty="0"/>
              <a:t>GitHub account</a:t>
            </a:r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588979-72DD-ADD5-537B-B0C55084559C}"/>
              </a:ext>
            </a:extLst>
          </p:cNvPr>
          <p:cNvSpPr txBox="1">
            <a:spLocks/>
          </p:cNvSpPr>
          <p:nvPr/>
        </p:nvSpPr>
        <p:spPr>
          <a:xfrm>
            <a:off x="6096000" y="244739"/>
            <a:ext cx="4009996" cy="6724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DE" dirty="0"/>
              <a:t>What I expect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374642-849F-BA77-E7A9-71B40CD584EA}"/>
              </a:ext>
            </a:extLst>
          </p:cNvPr>
          <p:cNvSpPr txBox="1">
            <a:spLocks/>
          </p:cNvSpPr>
          <p:nvPr/>
        </p:nvSpPr>
        <p:spPr>
          <a:xfrm>
            <a:off x="6096000" y="1342795"/>
            <a:ext cx="5877061" cy="2221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Active participation &gt; there are no stupid questions!</a:t>
            </a:r>
          </a:p>
          <a:p>
            <a:r>
              <a:rPr lang="en-US" dirty="0"/>
              <a:t>First learn coding without AI,</a:t>
            </a:r>
            <a:br>
              <a:rPr lang="en-US" dirty="0"/>
            </a:br>
            <a:r>
              <a:rPr lang="en-US" dirty="0"/>
              <a:t>then with AI assistance  </a:t>
            </a:r>
          </a:p>
          <a:p>
            <a:endParaRPr lang="en-US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27605DC-825E-874C-8319-2CC1E52D88E5}"/>
              </a:ext>
            </a:extLst>
          </p:cNvPr>
          <p:cNvSpPr txBox="1">
            <a:spLocks/>
          </p:cNvSpPr>
          <p:nvPr/>
        </p:nvSpPr>
        <p:spPr>
          <a:xfrm>
            <a:off x="487359" y="3989919"/>
            <a:ext cx="4009996" cy="6724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DE" dirty="0"/>
              <a:t>Organisatorisches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F0908FA-0737-50EA-D699-84318E2D5B82}"/>
              </a:ext>
            </a:extLst>
          </p:cNvPr>
          <p:cNvSpPr txBox="1">
            <a:spLocks/>
          </p:cNvSpPr>
          <p:nvPr/>
        </p:nvSpPr>
        <p:spPr>
          <a:xfrm>
            <a:off x="487359" y="5087975"/>
            <a:ext cx="6230682" cy="2221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Neue </a:t>
            </a:r>
            <a:r>
              <a:rPr lang="en-US" dirty="0" err="1"/>
              <a:t>Prüfungsordnung</a:t>
            </a:r>
            <a:r>
              <a:rPr lang="en-US" dirty="0"/>
              <a:t> – </a:t>
            </a:r>
            <a:r>
              <a:rPr lang="en-US" dirty="0" err="1"/>
              <a:t>keine</a:t>
            </a:r>
            <a:r>
              <a:rPr lang="en-US" dirty="0"/>
              <a:t> </a:t>
            </a:r>
            <a:r>
              <a:rPr lang="en-US" dirty="0" err="1"/>
              <a:t>Klausur</a:t>
            </a:r>
            <a:r>
              <a:rPr lang="en-US" dirty="0"/>
              <a:t> </a:t>
            </a:r>
            <a:r>
              <a:rPr lang="en-US" dirty="0" err="1"/>
              <a:t>vorgesehen</a:t>
            </a:r>
            <a:endParaRPr lang="en-US" dirty="0"/>
          </a:p>
          <a:p>
            <a:r>
              <a:rPr lang="en-US" dirty="0"/>
              <a:t>Alte </a:t>
            </a:r>
            <a:r>
              <a:rPr lang="en-US" dirty="0" err="1"/>
              <a:t>Prüfungsordnung</a:t>
            </a:r>
            <a:r>
              <a:rPr lang="en-US" dirty="0"/>
              <a:t> – </a:t>
            </a:r>
            <a:r>
              <a:rPr lang="en-US" dirty="0" err="1"/>
              <a:t>Klausur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vorgesehen</a:t>
            </a:r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25DFBF-ABDA-4C8B-CC68-452A9BDE75DD}"/>
              </a:ext>
            </a:extLst>
          </p:cNvPr>
          <p:cNvSpPr txBox="1"/>
          <p:nvPr/>
        </p:nvSpPr>
        <p:spPr>
          <a:xfrm>
            <a:off x="7690915" y="5062774"/>
            <a:ext cx="3228393" cy="87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DE" b="1" dirty="0">
                <a:solidFill>
                  <a:srgbClr val="C00000"/>
                </a:solidFill>
              </a:rPr>
              <a:t>W</a:t>
            </a:r>
            <a:r>
              <a:rPr lang="en-GB" b="1" dirty="0" err="1">
                <a:solidFill>
                  <a:srgbClr val="C00000"/>
                </a:solidFill>
              </a:rPr>
              <a:t>elche</a:t>
            </a:r>
            <a:r>
              <a:rPr lang="en-GB" b="1" dirty="0">
                <a:solidFill>
                  <a:srgbClr val="C00000"/>
                </a:solidFill>
              </a:rPr>
              <a:t> </a:t>
            </a:r>
            <a:r>
              <a:rPr lang="en-GB" b="1" dirty="0" err="1">
                <a:solidFill>
                  <a:srgbClr val="C00000"/>
                </a:solidFill>
              </a:rPr>
              <a:t>Prüfungsordnung</a:t>
            </a:r>
            <a:r>
              <a:rPr lang="en-GB" b="1" dirty="0">
                <a:solidFill>
                  <a:srgbClr val="C00000"/>
                </a:solidFill>
              </a:rPr>
              <a:t> </a:t>
            </a:r>
            <a:r>
              <a:rPr lang="en-GB" b="1" dirty="0" err="1">
                <a:solidFill>
                  <a:srgbClr val="C00000"/>
                </a:solidFill>
              </a:rPr>
              <a:t>habt</a:t>
            </a:r>
            <a:r>
              <a:rPr lang="en-GB" b="1" dirty="0">
                <a:solidFill>
                  <a:srgbClr val="C00000"/>
                </a:solidFill>
              </a:rPr>
              <a:t> </a:t>
            </a:r>
            <a:r>
              <a:rPr lang="en-GB" b="1" dirty="0" err="1">
                <a:solidFill>
                  <a:srgbClr val="C00000"/>
                </a:solidFill>
              </a:rPr>
              <a:t>ihr</a:t>
            </a:r>
            <a:r>
              <a:rPr lang="en-GB" b="1" dirty="0">
                <a:solidFill>
                  <a:srgbClr val="C00000"/>
                </a:solidFill>
              </a:rPr>
              <a:t> </a:t>
            </a:r>
            <a:r>
              <a:rPr lang="en-GB" b="1" dirty="0" err="1">
                <a:solidFill>
                  <a:srgbClr val="C00000"/>
                </a:solidFill>
              </a:rPr>
              <a:t>gewählt</a:t>
            </a:r>
            <a:r>
              <a:rPr lang="en-GB" b="1" dirty="0">
                <a:solidFill>
                  <a:srgbClr val="C00000"/>
                </a:solidFill>
              </a:rPr>
              <a:t>?</a:t>
            </a:r>
            <a:endParaRPr lang="en-DE" b="1" dirty="0">
              <a:solidFill>
                <a:srgbClr val="C00000"/>
              </a:solidFill>
            </a:endParaRPr>
          </a:p>
        </p:txBody>
      </p:sp>
      <p:pic>
        <p:nvPicPr>
          <p:cNvPr id="3078" name="Picture 6" descr="Prüfung - Kostenlose bildung-Icons">
            <a:extLst>
              <a:ext uri="{FF2B5EF4-FFF2-40B4-BE49-F238E27FC236}">
                <a16:creationId xmlns:a16="http://schemas.microsoft.com/office/drawing/2014/main" id="{4A6F0566-AED2-3B5A-DB1B-5231C2BC3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360" y="5181352"/>
            <a:ext cx="783973" cy="783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8543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43A58-2505-F3AE-A019-0C3AA32E3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Questions</a:t>
            </a:r>
          </a:p>
        </p:txBody>
      </p:sp>
      <p:pic>
        <p:nvPicPr>
          <p:cNvPr id="4098" name="Picture 2" descr="Key Questions of the Month: November 2023 | InterSystems Developer">
            <a:extLst>
              <a:ext uri="{FF2B5EF4-FFF2-40B4-BE49-F238E27FC236}">
                <a16:creationId xmlns:a16="http://schemas.microsoft.com/office/drawing/2014/main" id="{18E2CBD4-A077-5C6D-9330-C8E537EF8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33450"/>
            <a:ext cx="12192000" cy="4989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3852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CB8B5-C18C-2144-AFEF-346964D8F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Writing your own functions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D0E01F-31B4-1450-B3DF-AB66BED9404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06" b="21798"/>
          <a:stretch>
            <a:fillRect/>
          </a:stretch>
        </p:blipFill>
        <p:spPr>
          <a:xfrm>
            <a:off x="4979082" y="1709494"/>
            <a:ext cx="4378090" cy="26800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78D3AC-DF42-8021-50E7-C8C364CC0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65" r="27051"/>
          <a:stretch>
            <a:fillRect/>
          </a:stretch>
        </p:blipFill>
        <p:spPr>
          <a:xfrm>
            <a:off x="9487913" y="2536670"/>
            <a:ext cx="2514465" cy="10277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507676A-AE97-A3D8-B8C6-7F6EAAABC3FA}"/>
              </a:ext>
            </a:extLst>
          </p:cNvPr>
          <p:cNvSpPr txBox="1"/>
          <p:nvPr/>
        </p:nvSpPr>
        <p:spPr>
          <a:xfrm>
            <a:off x="487359" y="5263247"/>
            <a:ext cx="10168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C00000"/>
                </a:solidFill>
              </a:rPr>
              <a:t>Functions turn your code into </a:t>
            </a:r>
            <a:r>
              <a:rPr lang="en-GB" sz="2000" i="1" dirty="0">
                <a:solidFill>
                  <a:srgbClr val="C00000"/>
                </a:solidFill>
              </a:rPr>
              <a:t>reusable, testable, and understandable</a:t>
            </a:r>
            <a:r>
              <a:rPr lang="en-GB" sz="2000" dirty="0">
                <a:solidFill>
                  <a:srgbClr val="C00000"/>
                </a:solidFill>
              </a:rPr>
              <a:t> building blocks.</a:t>
            </a:r>
            <a:endParaRPr lang="en-DE" sz="2000" dirty="0">
              <a:solidFill>
                <a:srgbClr val="C0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AF1D79-441D-EA0F-E6AF-DE59153E2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534"/>
          <a:stretch>
            <a:fillRect/>
          </a:stretch>
        </p:blipFill>
        <p:spPr>
          <a:xfrm>
            <a:off x="487359" y="1648143"/>
            <a:ext cx="4378090" cy="218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486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6C0C2-5966-5B8C-88C4-77EC75563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test functions</a:t>
            </a:r>
            <a:r>
              <a:rPr lang="en-DE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2E82E4-A1A4-0204-CEDA-97123AFC2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59" y="1178428"/>
            <a:ext cx="4000500" cy="7493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D676B0-2689-3D47-2C0A-6F7E0CCD2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572"/>
          <a:stretch>
            <a:fillRect/>
          </a:stretch>
        </p:blipFill>
        <p:spPr>
          <a:xfrm>
            <a:off x="6406040" y="1563685"/>
            <a:ext cx="5473700" cy="26038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71BFDA-6783-4B9B-7B74-F3184C6DD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12" b="69824"/>
          <a:stretch>
            <a:fillRect/>
          </a:stretch>
        </p:blipFill>
        <p:spPr>
          <a:xfrm>
            <a:off x="283712" y="2367248"/>
            <a:ext cx="5473700" cy="15693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335A96-FD9D-B5EB-1A52-D9D67D1CF40F}"/>
              </a:ext>
            </a:extLst>
          </p:cNvPr>
          <p:cNvSpPr txBox="1"/>
          <p:nvPr/>
        </p:nvSpPr>
        <p:spPr>
          <a:xfrm>
            <a:off x="487359" y="1997916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b="1" dirty="0"/>
              <a:t>Manual check: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0BBDBF-9ACB-9355-A504-2372E618CB8D}"/>
              </a:ext>
            </a:extLst>
          </p:cNvPr>
          <p:cNvSpPr txBox="1"/>
          <p:nvPr/>
        </p:nvSpPr>
        <p:spPr>
          <a:xfrm>
            <a:off x="6499730" y="1194353"/>
            <a:ext cx="1863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b="1" dirty="0"/>
              <a:t>Automated test: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01EA13-CE53-7DB8-88BF-02AFECF9611D}"/>
              </a:ext>
            </a:extLst>
          </p:cNvPr>
          <p:cNvSpPr txBox="1"/>
          <p:nvPr/>
        </p:nvSpPr>
        <p:spPr>
          <a:xfrm>
            <a:off x="6499730" y="4167527"/>
            <a:ext cx="5011528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1638" indent="-401638">
              <a:spcAft>
                <a:spcPts val="600"/>
              </a:spcAft>
              <a:buFont typeface="System Font Regular"/>
              <a:buChar char="✅"/>
            </a:pPr>
            <a:r>
              <a:rPr lang="en-DE" dirty="0"/>
              <a:t>If both assertions are true, nothing happens – your test passes</a:t>
            </a:r>
          </a:p>
          <a:p>
            <a:pPr marL="401638" indent="-401638">
              <a:spcAft>
                <a:spcPts val="600"/>
              </a:spcAft>
              <a:buFont typeface="System Font Regular"/>
              <a:buChar char="❌"/>
            </a:pPr>
            <a:r>
              <a:rPr lang="en-DE" dirty="0"/>
              <a:t>If one fails, Python stops and shows exactly wher eit failed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D08FCB-3191-2591-467F-906C486DCB28}"/>
              </a:ext>
            </a:extLst>
          </p:cNvPr>
          <p:cNvSpPr txBox="1"/>
          <p:nvPr/>
        </p:nvSpPr>
        <p:spPr>
          <a:xfrm>
            <a:off x="487359" y="4213084"/>
            <a:ext cx="5011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1638" indent="-401638">
              <a:buFont typeface="System Font Regular"/>
              <a:buChar char="➡️"/>
            </a:pPr>
            <a:r>
              <a:rPr lang="en-DE" dirty="0"/>
              <a:t>Works, but you must visually check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650D0A-2BD5-5AB7-69AC-4EDA413015F5}"/>
              </a:ext>
            </a:extLst>
          </p:cNvPr>
          <p:cNvSpPr txBox="1"/>
          <p:nvPr/>
        </p:nvSpPr>
        <p:spPr>
          <a:xfrm>
            <a:off x="487359" y="5610479"/>
            <a:ext cx="94421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Testing makes your functions </a:t>
            </a:r>
            <a:r>
              <a:rPr lang="en-GB" i="1" dirty="0">
                <a:solidFill>
                  <a:srgbClr val="C00000"/>
                </a:solidFill>
              </a:rPr>
              <a:t>trustworthy, reusable, and maintainable.</a:t>
            </a:r>
            <a:br>
              <a:rPr lang="en-GB" dirty="0">
                <a:solidFill>
                  <a:srgbClr val="C00000"/>
                </a:solidFill>
              </a:rPr>
            </a:br>
            <a:r>
              <a:rPr lang="en-GB" dirty="0">
                <a:solidFill>
                  <a:srgbClr val="C00000"/>
                </a:solidFill>
              </a:rPr>
              <a:t>Without tests, you’re </a:t>
            </a:r>
            <a:r>
              <a:rPr lang="en-GB" i="1" dirty="0">
                <a:solidFill>
                  <a:srgbClr val="C00000"/>
                </a:solidFill>
              </a:rPr>
              <a:t>guessing</a:t>
            </a:r>
            <a:r>
              <a:rPr lang="en-GB" dirty="0">
                <a:solidFill>
                  <a:srgbClr val="C00000"/>
                </a:solidFill>
              </a:rPr>
              <a:t> whether your code still works.</a:t>
            </a:r>
            <a:endParaRPr lang="en-DE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781220"/>
      </p:ext>
    </p:extLst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Blocks">
      <a:dk1>
        <a:sysClr val="windowText" lastClr="000000"/>
      </a:dk1>
      <a:lt1>
        <a:sysClr val="window" lastClr="FFFFFF"/>
      </a:lt1>
      <a:dk2>
        <a:srgbClr val="1B3843"/>
      </a:dk2>
      <a:lt2>
        <a:srgbClr val="F2F3F1"/>
      </a:lt2>
      <a:accent1>
        <a:srgbClr val="7A8592"/>
      </a:accent1>
      <a:accent2>
        <a:srgbClr val="8C8C96"/>
      </a:accent2>
      <a:accent3>
        <a:srgbClr val="7A6C76"/>
      </a:accent3>
      <a:accent4>
        <a:srgbClr val="A7AA9D"/>
      </a:accent4>
      <a:accent5>
        <a:srgbClr val="63787F"/>
      </a:accent5>
      <a:accent6>
        <a:srgbClr val="889DA5"/>
      </a:accent6>
      <a:hlink>
        <a:srgbClr val="71819B"/>
      </a:hlink>
      <a:folHlink>
        <a:srgbClr val="7E8B85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1188</TotalTime>
  <Words>543</Words>
  <Application>Microsoft Macintosh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Avenir Next LT Pro</vt:lpstr>
      <vt:lpstr>Avenir Next LT Pro Light</vt:lpstr>
      <vt:lpstr>Courier New</vt:lpstr>
      <vt:lpstr>System Font Regular</vt:lpstr>
      <vt:lpstr>BlocksVTI</vt:lpstr>
      <vt:lpstr>Advanced Python Course: From “Python User” to “Python Developer”</vt:lpstr>
      <vt:lpstr>What you‘ll learn</vt:lpstr>
      <vt:lpstr>Course structure</vt:lpstr>
      <vt:lpstr>Week 1: From Python programming skills …</vt:lpstr>
      <vt:lpstr>Week 1: … to Python developer skills</vt:lpstr>
      <vt:lpstr>Week 2: Course project – In-Silico Mass Spectrometry Proteomics</vt:lpstr>
      <vt:lpstr>What you’ll need </vt:lpstr>
      <vt:lpstr>Questions</vt:lpstr>
      <vt:lpstr>Writing your own functions</vt:lpstr>
      <vt:lpstr>Writing test functions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Isabell Bludau</cp:lastModifiedBy>
  <cp:revision>45</cp:revision>
  <dcterms:created xsi:type="dcterms:W3CDTF">2025-11-08T15:14:45Z</dcterms:created>
  <dcterms:modified xsi:type="dcterms:W3CDTF">2025-11-09T11:12:03Z</dcterms:modified>
</cp:coreProperties>
</file>